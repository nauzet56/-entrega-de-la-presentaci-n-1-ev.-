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Aileron Bold" charset="1" panose="00000800000000000000"/>
      <p:regular r:id="rId18"/>
    </p:embeddedFont>
    <p:embeddedFont>
      <p:font typeface="Impact" charset="1" panose="020B0806030902050204"/>
      <p:regular r:id="rId19"/>
    </p:embeddedFont>
    <p:embeddedFont>
      <p:font typeface="Helvetica Now Light" charset="1" panose="020B04040302020202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D08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368927" y="6381893"/>
            <a:ext cx="3919073" cy="3919073"/>
          </a:xfrm>
          <a:custGeom>
            <a:avLst/>
            <a:gdLst/>
            <a:ahLst/>
            <a:cxnLst/>
            <a:rect r="r" b="b" t="t" l="l"/>
            <a:pathLst>
              <a:path h="3919073" w="3919073">
                <a:moveTo>
                  <a:pt x="0" y="0"/>
                </a:moveTo>
                <a:lnTo>
                  <a:pt x="3919073" y="0"/>
                </a:lnTo>
                <a:lnTo>
                  <a:pt x="3919073" y="3919073"/>
                </a:lnTo>
                <a:lnTo>
                  <a:pt x="0" y="39190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366963" y="2001212"/>
            <a:ext cx="8917417" cy="8761362"/>
          </a:xfrm>
          <a:custGeom>
            <a:avLst/>
            <a:gdLst/>
            <a:ahLst/>
            <a:cxnLst/>
            <a:rect r="r" b="b" t="t" l="l"/>
            <a:pathLst>
              <a:path h="8761362" w="8917417">
                <a:moveTo>
                  <a:pt x="0" y="0"/>
                </a:moveTo>
                <a:lnTo>
                  <a:pt x="8917417" y="0"/>
                </a:lnTo>
                <a:lnTo>
                  <a:pt x="8917417" y="8761362"/>
                </a:lnTo>
                <a:lnTo>
                  <a:pt x="0" y="87613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4000"/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04665" y="-1644761"/>
            <a:ext cx="17720126" cy="6664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50"/>
              </a:lnSpc>
            </a:pPr>
          </a:p>
          <a:p>
            <a:pPr algn="ctr">
              <a:lnSpc>
                <a:spcPts val="11199"/>
              </a:lnSpc>
            </a:pPr>
            <a:r>
              <a:rPr lang="en-US" b="true" sz="12583" spc="-1019">
                <a:solidFill>
                  <a:srgbClr val="E7E7E0">
                    <a:alpha val="88627"/>
                  </a:srgbClr>
                </a:solidFill>
                <a:latin typeface="Aileron Bold"/>
                <a:ea typeface="Aileron Bold"/>
                <a:cs typeface="Aileron Bold"/>
                <a:sym typeface="Aileron Bold"/>
              </a:rPr>
              <a:t>Retos ambientales y sociales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630182" y="828797"/>
            <a:ext cx="4770683" cy="3489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18"/>
              </a:lnSpc>
              <a:spcBef>
                <a:spcPct val="0"/>
              </a:spcBef>
            </a:pPr>
            <a:r>
              <a:rPr lang="en-US" b="true" sz="2013">
                <a:solidFill>
                  <a:srgbClr val="E4E2DD"/>
                </a:solidFill>
                <a:latin typeface="Aileron Bold"/>
                <a:ea typeface="Aileron Bold"/>
                <a:cs typeface="Aileron Bold"/>
                <a:sym typeface="Aileron Bold"/>
              </a:rPr>
              <a:t>2ºDAM-SOSTENIBILIDAD        </a:t>
            </a:r>
            <a:r>
              <a:rPr lang="en-US" b="true" sz="2013">
                <a:solidFill>
                  <a:srgbClr val="E4E2DD"/>
                </a:solidFill>
                <a:latin typeface="Aileron Bold"/>
                <a:ea typeface="Aileron Bold"/>
                <a:cs typeface="Aileron Bold"/>
                <a:sym typeface="Aileron Bold"/>
              </a:rPr>
              <a:t>(1ª EV.)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04665" y="7461733"/>
            <a:ext cx="5167760" cy="1118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59"/>
              </a:lnSpc>
            </a:pPr>
            <a:r>
              <a:rPr lang="en-US" sz="3257" b="true">
                <a:solidFill>
                  <a:srgbClr val="E4E2DD"/>
                </a:solidFill>
                <a:latin typeface="Aileron Bold"/>
                <a:ea typeface="Aileron Bold"/>
                <a:cs typeface="Aileron Bold"/>
                <a:sym typeface="Aileron Bold"/>
              </a:rPr>
              <a:t>DANIEL  ÁNGEL ASUMU</a:t>
            </a:r>
          </a:p>
          <a:p>
            <a:pPr algn="just">
              <a:lnSpc>
                <a:spcPts val="4559"/>
              </a:lnSpc>
              <a:spcBef>
                <a:spcPct val="0"/>
              </a:spcBef>
            </a:pPr>
            <a:r>
              <a:rPr lang="en-US" b="true" sz="3257">
                <a:solidFill>
                  <a:srgbClr val="E4E2DD"/>
                </a:solidFill>
                <a:latin typeface="Aileron Bold"/>
                <a:ea typeface="Aileron Bold"/>
                <a:cs typeface="Aileron Bold"/>
                <a:sym typeface="Aileron Bold"/>
              </a:rPr>
              <a:t>NAUZET BETANCOR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2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406638">
            <a:off x="6584995" y="-194592"/>
            <a:ext cx="4644800" cy="4604158"/>
          </a:xfrm>
          <a:custGeom>
            <a:avLst/>
            <a:gdLst/>
            <a:ahLst/>
            <a:cxnLst/>
            <a:rect r="r" b="b" t="t" l="l"/>
            <a:pathLst>
              <a:path h="4604158" w="4644800">
                <a:moveTo>
                  <a:pt x="0" y="0"/>
                </a:moveTo>
                <a:lnTo>
                  <a:pt x="4644800" y="0"/>
                </a:lnTo>
                <a:lnTo>
                  <a:pt x="4644800" y="4604158"/>
                </a:lnTo>
                <a:lnTo>
                  <a:pt x="0" y="46041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8571326" y="4024311"/>
            <a:ext cx="0" cy="4557620"/>
          </a:xfrm>
          <a:prstGeom prst="line">
            <a:avLst/>
          </a:prstGeom>
          <a:ln cap="flat" w="38100">
            <a:solidFill>
              <a:srgbClr val="8D080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4372190" y="7281227"/>
            <a:ext cx="4321400" cy="3005773"/>
          </a:xfrm>
          <a:custGeom>
            <a:avLst/>
            <a:gdLst/>
            <a:ahLst/>
            <a:cxnLst/>
            <a:rect r="r" b="b" t="t" l="l"/>
            <a:pathLst>
              <a:path h="3005773" w="4321400">
                <a:moveTo>
                  <a:pt x="0" y="0"/>
                </a:moveTo>
                <a:lnTo>
                  <a:pt x="4321400" y="0"/>
                </a:lnTo>
                <a:lnTo>
                  <a:pt x="4321400" y="3005773"/>
                </a:lnTo>
                <a:lnTo>
                  <a:pt x="0" y="30057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2288181" y="-2356307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4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017320" y="1261221"/>
            <a:ext cx="7356778" cy="2159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723"/>
              </a:lnSpc>
            </a:pPr>
            <a:r>
              <a:rPr lang="en-US" b="true" sz="17278" spc="-967">
                <a:solidFill>
                  <a:srgbClr val="8D080E">
                    <a:alpha val="77647"/>
                  </a:srgbClr>
                </a:solidFill>
                <a:latin typeface="Aileron Bold"/>
                <a:ea typeface="Aileron Bold"/>
                <a:cs typeface="Aileron Bold"/>
                <a:sym typeface="Aileron Bold"/>
              </a:rPr>
              <a:t>ÍNDICE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4551087"/>
            <a:ext cx="7225398" cy="2093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77"/>
              </a:lnSpc>
            </a:pPr>
          </a:p>
          <a:p>
            <a:pPr algn="l" marL="644155" indent="-322078" lvl="1">
              <a:lnSpc>
                <a:spcPts val="4177"/>
              </a:lnSpc>
              <a:buAutoNum type="arabicPeriod" startAt="1"/>
            </a:pPr>
            <a:r>
              <a:rPr lang="en-US" b="true" sz="2983">
                <a:solidFill>
                  <a:srgbClr val="BB483F"/>
                </a:solidFill>
                <a:latin typeface="Aileron Bold"/>
                <a:ea typeface="Aileron Bold"/>
                <a:cs typeface="Aileron Bold"/>
                <a:sym typeface="Aileron Bold"/>
              </a:rPr>
              <a:t>Una problemática conectada</a:t>
            </a:r>
          </a:p>
          <a:p>
            <a:pPr algn="l" marL="644155" indent="-322078" lvl="1">
              <a:lnSpc>
                <a:spcPts val="4177"/>
              </a:lnSpc>
              <a:buAutoNum type="arabicPeriod" startAt="1"/>
            </a:pPr>
            <a:r>
              <a:rPr lang="en-US" b="true" sz="2983">
                <a:solidFill>
                  <a:srgbClr val="BB483F"/>
                </a:solidFill>
                <a:latin typeface="Aileron Bold"/>
                <a:ea typeface="Aileron Bold"/>
                <a:cs typeface="Aileron Bold"/>
                <a:sym typeface="Aileron Bold"/>
              </a:rPr>
              <a:t>Cómo clasifica la contaminación</a:t>
            </a:r>
          </a:p>
          <a:p>
            <a:pPr algn="l" marL="644155" indent="-322078" lvl="1">
              <a:lnSpc>
                <a:spcPts val="4177"/>
              </a:lnSpc>
              <a:buAutoNum type="arabicPeriod" startAt="1"/>
            </a:pPr>
            <a:r>
              <a:rPr lang="en-US" b="true" sz="2983">
                <a:solidFill>
                  <a:srgbClr val="BB483F"/>
                </a:solidFill>
                <a:latin typeface="Aileron Bold"/>
                <a:ea typeface="Aileron Bold"/>
                <a:cs typeface="Aileron Bold"/>
                <a:sym typeface="Aileron Bold"/>
              </a:rPr>
              <a:t> Efectos en las personas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888554" y="5076825"/>
            <a:ext cx="9348880" cy="1568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4155" indent="-322078" lvl="1">
              <a:lnSpc>
                <a:spcPts val="4177"/>
              </a:lnSpc>
              <a:buAutoNum type="arabicPeriod" startAt="1"/>
            </a:pPr>
            <a:r>
              <a:rPr lang="en-US" b="true" sz="2983">
                <a:solidFill>
                  <a:srgbClr val="BB483F"/>
                </a:solidFill>
                <a:latin typeface="Aileron Bold"/>
                <a:ea typeface="Aileron Bold"/>
                <a:cs typeface="Aileron Bold"/>
                <a:sym typeface="Aileron Bold"/>
              </a:rPr>
              <a:t> Efectos en los sectores productivos </a:t>
            </a:r>
          </a:p>
          <a:p>
            <a:pPr algn="l" marL="644155" indent="-322078" lvl="1">
              <a:lnSpc>
                <a:spcPts val="4177"/>
              </a:lnSpc>
              <a:buAutoNum type="arabicPeriod" startAt="1"/>
            </a:pPr>
            <a:r>
              <a:rPr lang="en-US" b="true" sz="2983">
                <a:solidFill>
                  <a:srgbClr val="BB483F"/>
                </a:solidFill>
                <a:latin typeface="Aileron Bold"/>
                <a:ea typeface="Aileron Bold"/>
                <a:cs typeface="Aileron Bold"/>
                <a:sym typeface="Aileron Bold"/>
              </a:rPr>
              <a:t>Aspectos prácticos que desarrolla el manual </a:t>
            </a:r>
          </a:p>
          <a:p>
            <a:pPr algn="l" marL="644155" indent="-322078" lvl="1">
              <a:lnSpc>
                <a:spcPts val="4177"/>
              </a:lnSpc>
              <a:buAutoNum type="arabicPeriod" startAt="1"/>
            </a:pPr>
            <a:r>
              <a:rPr lang="en-US" b="true" sz="2983">
                <a:solidFill>
                  <a:srgbClr val="BB483F"/>
                </a:solidFill>
                <a:latin typeface="Aileron Bold"/>
                <a:ea typeface="Aileron Bold"/>
                <a:cs typeface="Aileron Bold"/>
                <a:sym typeface="Aileron Bold"/>
              </a:rPr>
              <a:t>Comprobar si las medidas funcionan</a:t>
            </a:r>
          </a:p>
        </p:txBody>
      </p: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D08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189841"/>
            <a:ext cx="18514876" cy="10662805"/>
          </a:xfrm>
          <a:custGeom>
            <a:avLst/>
            <a:gdLst/>
            <a:ahLst/>
            <a:cxnLst/>
            <a:rect r="r" b="b" t="t" l="l"/>
            <a:pathLst>
              <a:path h="10662805" w="18514876">
                <a:moveTo>
                  <a:pt x="0" y="0"/>
                </a:moveTo>
                <a:lnTo>
                  <a:pt x="18514876" y="0"/>
                </a:lnTo>
                <a:lnTo>
                  <a:pt x="18514876" y="10662805"/>
                </a:lnTo>
                <a:lnTo>
                  <a:pt x="0" y="106628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31" t="0" r="-631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D08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570" y="0"/>
            <a:ext cx="18295570" cy="10287000"/>
          </a:xfrm>
          <a:custGeom>
            <a:avLst/>
            <a:gdLst/>
            <a:ahLst/>
            <a:cxnLst/>
            <a:rect r="r" b="b" t="t" l="l"/>
            <a:pathLst>
              <a:path h="10287000" w="18295570">
                <a:moveTo>
                  <a:pt x="0" y="0"/>
                </a:moveTo>
                <a:lnTo>
                  <a:pt x="18295570" y="0"/>
                </a:lnTo>
                <a:lnTo>
                  <a:pt x="1829557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284" t="-10523" r="-5284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D08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6070" y="-231992"/>
            <a:ext cx="18474070" cy="10728432"/>
          </a:xfrm>
          <a:custGeom>
            <a:avLst/>
            <a:gdLst/>
            <a:ahLst/>
            <a:cxnLst/>
            <a:rect r="r" b="b" t="t" l="l"/>
            <a:pathLst>
              <a:path h="10728432" w="18474070">
                <a:moveTo>
                  <a:pt x="0" y="0"/>
                </a:moveTo>
                <a:lnTo>
                  <a:pt x="18474070" y="0"/>
                </a:lnTo>
                <a:lnTo>
                  <a:pt x="18474070" y="10728432"/>
                </a:lnTo>
                <a:lnTo>
                  <a:pt x="0" y="107284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2" t="-1871" r="-4474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2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3944" y="0"/>
            <a:ext cx="18351944" cy="10287000"/>
          </a:xfrm>
          <a:custGeom>
            <a:avLst/>
            <a:gdLst/>
            <a:ahLst/>
            <a:cxnLst/>
            <a:rect r="r" b="b" t="t" l="l"/>
            <a:pathLst>
              <a:path h="10287000" w="18351944">
                <a:moveTo>
                  <a:pt x="0" y="0"/>
                </a:moveTo>
                <a:lnTo>
                  <a:pt x="18351944" y="0"/>
                </a:lnTo>
                <a:lnTo>
                  <a:pt x="1835194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744" t="0" r="-4744" b="-9108"/>
            </a:stretch>
          </a:blipFill>
        </p:spPr>
      </p: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2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330845"/>
            <a:ext cx="18480074" cy="10845328"/>
          </a:xfrm>
          <a:custGeom>
            <a:avLst/>
            <a:gdLst/>
            <a:ahLst/>
            <a:cxnLst/>
            <a:rect r="r" b="b" t="t" l="l"/>
            <a:pathLst>
              <a:path h="10845328" w="18480074">
                <a:moveTo>
                  <a:pt x="0" y="0"/>
                </a:moveTo>
                <a:lnTo>
                  <a:pt x="18480074" y="0"/>
                </a:lnTo>
                <a:lnTo>
                  <a:pt x="18480074" y="10845327"/>
                </a:lnTo>
                <a:lnTo>
                  <a:pt x="0" y="108453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962" t="0" r="-3962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717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9301" y="1772969"/>
            <a:ext cx="7120968" cy="7120968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82F2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2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49343" y="1393064"/>
            <a:ext cx="4704263" cy="7059151"/>
          </a:xfrm>
          <a:custGeom>
            <a:avLst/>
            <a:gdLst/>
            <a:ahLst/>
            <a:cxnLst/>
            <a:rect r="r" b="b" t="t" l="l"/>
            <a:pathLst>
              <a:path h="7059151" w="4704263">
                <a:moveTo>
                  <a:pt x="0" y="0"/>
                </a:moveTo>
                <a:lnTo>
                  <a:pt x="4704263" y="0"/>
                </a:lnTo>
                <a:lnTo>
                  <a:pt x="4704263" y="7059151"/>
                </a:lnTo>
                <a:lnTo>
                  <a:pt x="0" y="70591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544829" y="3530011"/>
            <a:ext cx="9449779" cy="656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953"/>
              </a:lnSpc>
            </a:pPr>
            <a:r>
              <a:rPr lang="en-US" sz="4942" spc="-49">
                <a:solidFill>
                  <a:srgbClr val="E82F2F"/>
                </a:solidFill>
                <a:latin typeface="Impact"/>
                <a:ea typeface="Impact"/>
                <a:cs typeface="Impact"/>
                <a:sym typeface="Impact"/>
              </a:rPr>
              <a:t> 4. </a:t>
            </a:r>
            <a:r>
              <a:rPr lang="en-US" sz="4942" spc="-49">
                <a:solidFill>
                  <a:srgbClr val="E82F2F"/>
                </a:solidFill>
                <a:latin typeface="Impact"/>
                <a:ea typeface="Impact"/>
                <a:cs typeface="Impact"/>
                <a:sym typeface="Impact"/>
              </a:rPr>
              <a:t>Efect</a:t>
            </a:r>
            <a:r>
              <a:rPr lang="en-US" sz="4942" spc="-49">
                <a:solidFill>
                  <a:srgbClr val="E82F2F"/>
                </a:solidFill>
                <a:latin typeface="Impact"/>
                <a:ea typeface="Impact"/>
                <a:cs typeface="Impact"/>
                <a:sym typeface="Impact"/>
              </a:rPr>
              <a:t>OS EN LOS SECTORES PRODUCTIVOS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29151" y="5001985"/>
            <a:ext cx="7909936" cy="1408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2"/>
              </a:lnSpc>
            </a:pPr>
            <a:r>
              <a:rPr lang="en-US" sz="2469" spc="-49">
                <a:solidFill>
                  <a:srgbClr val="EFEFEF"/>
                </a:solidFill>
                <a:latin typeface="Helvetica Now Light"/>
                <a:ea typeface="Helvetica Now Light"/>
                <a:cs typeface="Helvetica Now Light"/>
                <a:sym typeface="Helvetica Now Light"/>
              </a:rPr>
              <a:t>Las empresas afrontan costes de adaptación, exigencias de control ambiental, riesgos reputacionales y posibles alteraciones de suministros. La escasez de agua o materias primas afecta al precio y a la capacidad de producir. </a:t>
            </a:r>
          </a:p>
        </p:txBody>
      </p:sp>
    </p:spTree>
  </p:cSld>
  <p:clrMapOvr>
    <a:masterClrMapping/>
  </p:clrMapOvr>
  <p:transition spd="fast">
    <p:fad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717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408377" y="-4314347"/>
            <a:ext cx="7120968" cy="7120968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82F2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2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702684" y="3644588"/>
            <a:ext cx="10882632" cy="5231413"/>
          </a:xfrm>
          <a:custGeom>
            <a:avLst/>
            <a:gdLst/>
            <a:ahLst/>
            <a:cxnLst/>
            <a:rect r="r" b="b" t="t" l="l"/>
            <a:pathLst>
              <a:path h="5231413" w="10882632">
                <a:moveTo>
                  <a:pt x="0" y="0"/>
                </a:moveTo>
                <a:lnTo>
                  <a:pt x="10882632" y="0"/>
                </a:lnTo>
                <a:lnTo>
                  <a:pt x="10882632" y="5231413"/>
                </a:lnTo>
                <a:lnTo>
                  <a:pt x="0" y="52314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949337" y="7337682"/>
            <a:ext cx="3207016" cy="2847310"/>
          </a:xfrm>
          <a:custGeom>
            <a:avLst/>
            <a:gdLst/>
            <a:ahLst/>
            <a:cxnLst/>
            <a:rect r="r" b="b" t="t" l="l"/>
            <a:pathLst>
              <a:path h="2847310" w="3207016">
                <a:moveTo>
                  <a:pt x="0" y="0"/>
                </a:moveTo>
                <a:lnTo>
                  <a:pt x="3207016" y="0"/>
                </a:lnTo>
                <a:lnTo>
                  <a:pt x="3207016" y="2847310"/>
                </a:lnTo>
                <a:lnTo>
                  <a:pt x="0" y="28473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419111" y="2150618"/>
            <a:ext cx="9449779" cy="656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953"/>
              </a:lnSpc>
            </a:pPr>
            <a:r>
              <a:rPr lang="en-US" sz="4942" spc="-49">
                <a:solidFill>
                  <a:srgbClr val="EFEFEF"/>
                </a:solidFill>
                <a:latin typeface="Impact"/>
                <a:ea typeface="Impact"/>
                <a:cs typeface="Impact"/>
                <a:sym typeface="Impact"/>
              </a:rPr>
              <a:t> 4. </a:t>
            </a:r>
            <a:r>
              <a:rPr lang="en-US" sz="4942" spc="-49">
                <a:solidFill>
                  <a:srgbClr val="EFEFEF"/>
                </a:solidFill>
                <a:latin typeface="Impact"/>
                <a:ea typeface="Impact"/>
                <a:cs typeface="Impact"/>
                <a:sym typeface="Impact"/>
              </a:rPr>
              <a:t>Efect</a:t>
            </a:r>
            <a:r>
              <a:rPr lang="en-US" sz="4942" spc="-49">
                <a:solidFill>
                  <a:srgbClr val="EFEFEF"/>
                </a:solidFill>
                <a:latin typeface="Impact"/>
                <a:ea typeface="Impact"/>
                <a:cs typeface="Impact"/>
                <a:sym typeface="Impact"/>
              </a:rPr>
              <a:t>OS EN LOS S</a:t>
            </a:r>
            <a:r>
              <a:rPr lang="en-US" sz="4942" spc="-49">
                <a:solidFill>
                  <a:srgbClr val="EFEFEF"/>
                </a:solidFill>
                <a:latin typeface="Impact"/>
                <a:ea typeface="Impact"/>
                <a:cs typeface="Impact"/>
                <a:sym typeface="Impact"/>
              </a:rPr>
              <a:t>ECTORES PRODUCTIVOS 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-3560484" y="-4519421"/>
            <a:ext cx="7120968" cy="7120968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F453C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2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256525" y="1180103"/>
            <a:ext cx="2578199" cy="2600489"/>
          </a:xfrm>
          <a:custGeom>
            <a:avLst/>
            <a:gdLst/>
            <a:ahLst/>
            <a:cxnLst/>
            <a:rect r="r" b="b" t="t" l="l"/>
            <a:pathLst>
              <a:path h="2600489" w="2578199">
                <a:moveTo>
                  <a:pt x="0" y="0"/>
                </a:moveTo>
                <a:lnTo>
                  <a:pt x="2578199" y="0"/>
                </a:lnTo>
                <a:lnTo>
                  <a:pt x="2578199" y="2600489"/>
                </a:lnTo>
                <a:lnTo>
                  <a:pt x="0" y="26004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d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2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145815">
            <a:off x="6722205" y="-673160"/>
            <a:ext cx="6037475" cy="5984647"/>
          </a:xfrm>
          <a:custGeom>
            <a:avLst/>
            <a:gdLst/>
            <a:ahLst/>
            <a:cxnLst/>
            <a:rect r="r" b="b" t="t" l="l"/>
            <a:pathLst>
              <a:path h="5984647" w="6037475">
                <a:moveTo>
                  <a:pt x="0" y="0"/>
                </a:moveTo>
                <a:lnTo>
                  <a:pt x="6037475" y="0"/>
                </a:lnTo>
                <a:lnTo>
                  <a:pt x="6037475" y="5984648"/>
                </a:lnTo>
                <a:lnTo>
                  <a:pt x="0" y="59846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730316" y="5143500"/>
            <a:ext cx="9676760" cy="2535568"/>
            <a:chOff x="0" y="0"/>
            <a:chExt cx="2548612" cy="66780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548612" cy="667804"/>
            </a:xfrm>
            <a:custGeom>
              <a:avLst/>
              <a:gdLst/>
              <a:ahLst/>
              <a:cxnLst/>
              <a:rect r="r" b="b" t="t" l="l"/>
              <a:pathLst>
                <a:path h="667804" w="2548612">
                  <a:moveTo>
                    <a:pt x="40803" y="0"/>
                  </a:moveTo>
                  <a:lnTo>
                    <a:pt x="2507809" y="0"/>
                  </a:lnTo>
                  <a:cubicBezTo>
                    <a:pt x="2518631" y="0"/>
                    <a:pt x="2529009" y="4299"/>
                    <a:pt x="2536661" y="11951"/>
                  </a:cubicBezTo>
                  <a:cubicBezTo>
                    <a:pt x="2544313" y="19603"/>
                    <a:pt x="2548612" y="29981"/>
                    <a:pt x="2548612" y="40803"/>
                  </a:cubicBezTo>
                  <a:lnTo>
                    <a:pt x="2548612" y="627001"/>
                  </a:lnTo>
                  <a:cubicBezTo>
                    <a:pt x="2548612" y="649536"/>
                    <a:pt x="2530344" y="667804"/>
                    <a:pt x="2507809" y="667804"/>
                  </a:cubicBezTo>
                  <a:lnTo>
                    <a:pt x="40803" y="667804"/>
                  </a:lnTo>
                  <a:cubicBezTo>
                    <a:pt x="29981" y="667804"/>
                    <a:pt x="19603" y="663505"/>
                    <a:pt x="11951" y="655853"/>
                  </a:cubicBezTo>
                  <a:cubicBezTo>
                    <a:pt x="4299" y="648201"/>
                    <a:pt x="0" y="637823"/>
                    <a:pt x="0" y="627001"/>
                  </a:cubicBezTo>
                  <a:lnTo>
                    <a:pt x="0" y="40803"/>
                  </a:lnTo>
                  <a:cubicBezTo>
                    <a:pt x="0" y="29981"/>
                    <a:pt x="4299" y="19603"/>
                    <a:pt x="11951" y="11951"/>
                  </a:cubicBezTo>
                  <a:cubicBezTo>
                    <a:pt x="19603" y="4299"/>
                    <a:pt x="29981" y="0"/>
                    <a:pt x="40803" y="0"/>
                  </a:cubicBezTo>
                  <a:close/>
                </a:path>
              </a:pathLst>
            </a:custGeom>
            <a:solidFill>
              <a:srgbClr val="BF453C">
                <a:alpha val="77647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0"/>
              <a:ext cx="2548612" cy="7630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81"/>
                </a:lnSpc>
              </a:pPr>
              <a:r>
                <a:rPr lang="en-US" sz="2415">
                  <a:solidFill>
                    <a:srgbClr val="EFEFEF">
                      <a:alpha val="77647"/>
                    </a:srgbClr>
                  </a:solidFill>
                  <a:latin typeface="Impact"/>
                  <a:ea typeface="Impact"/>
                  <a:cs typeface="Impact"/>
                  <a:sym typeface="Impact"/>
                </a:rPr>
                <a:t>Aspectos prácticos que desarrolla el manual La eficiencia energética consiste en aprovechar mejor la energía necesaria para una actividad. La etiqueta energética aporta información para comparar equipos.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262637" y="6954403"/>
            <a:ext cx="4038738" cy="4038738"/>
          </a:xfrm>
          <a:custGeom>
            <a:avLst/>
            <a:gdLst/>
            <a:ahLst/>
            <a:cxnLst/>
            <a:rect r="r" b="b" t="t" l="l"/>
            <a:pathLst>
              <a:path h="4038738" w="4038738">
                <a:moveTo>
                  <a:pt x="0" y="0"/>
                </a:moveTo>
                <a:lnTo>
                  <a:pt x="4038738" y="0"/>
                </a:lnTo>
                <a:lnTo>
                  <a:pt x="4038738" y="4038739"/>
                </a:lnTo>
                <a:lnTo>
                  <a:pt x="0" y="40387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978505" y="1437278"/>
            <a:ext cx="15180382" cy="2326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088007" indent="-1044004" lvl="1">
              <a:lnSpc>
                <a:spcPts val="8800"/>
              </a:lnSpc>
              <a:buAutoNum type="arabicPeriod" startAt="1"/>
            </a:pPr>
            <a:r>
              <a:rPr lang="en-US" b="true" sz="9671" spc="-541">
                <a:solidFill>
                  <a:srgbClr val="8D080E"/>
                </a:solidFill>
                <a:latin typeface="Aileron Bold"/>
                <a:ea typeface="Aileron Bold"/>
                <a:cs typeface="Aileron Bold"/>
                <a:sym typeface="Aileron Bold"/>
              </a:rPr>
              <a:t>Asp</a:t>
            </a:r>
            <a:r>
              <a:rPr lang="en-US" b="true" sz="9671" spc="-541">
                <a:solidFill>
                  <a:srgbClr val="8D080E"/>
                </a:solidFill>
                <a:latin typeface="Aileron Bold"/>
                <a:ea typeface="Aileron Bold"/>
                <a:cs typeface="Aileron Bold"/>
                <a:sym typeface="Aileron Bold"/>
              </a:rPr>
              <a:t>ectos prácticos que desarrolla el manual </a:t>
            </a:r>
          </a:p>
        </p:txBody>
      </p:sp>
    </p:spTree>
  </p:cSld>
  <p:clrMapOvr>
    <a:masterClrMapping/>
  </p:clrMapOvr>
  <p:transition spd="slow">
    <p:push dir="d"/>
  </p:transition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E4E2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38536" y="5143500"/>
            <a:ext cx="6405024" cy="1833447"/>
            <a:chOff x="0" y="0"/>
            <a:chExt cx="1686920" cy="4828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86920" cy="482883"/>
            </a:xfrm>
            <a:custGeom>
              <a:avLst/>
              <a:gdLst/>
              <a:ahLst/>
              <a:cxnLst/>
              <a:rect r="r" b="b" t="t" l="l"/>
              <a:pathLst>
                <a:path h="482883" w="1686920">
                  <a:moveTo>
                    <a:pt x="61645" y="0"/>
                  </a:moveTo>
                  <a:lnTo>
                    <a:pt x="1625275" y="0"/>
                  </a:lnTo>
                  <a:cubicBezTo>
                    <a:pt x="1659320" y="0"/>
                    <a:pt x="1686920" y="27599"/>
                    <a:pt x="1686920" y="61645"/>
                  </a:cubicBezTo>
                  <a:lnTo>
                    <a:pt x="1686920" y="421238"/>
                  </a:lnTo>
                  <a:cubicBezTo>
                    <a:pt x="1686920" y="437587"/>
                    <a:pt x="1680425" y="453267"/>
                    <a:pt x="1668864" y="464828"/>
                  </a:cubicBezTo>
                  <a:cubicBezTo>
                    <a:pt x="1657304" y="476388"/>
                    <a:pt x="1641624" y="482883"/>
                    <a:pt x="1625275" y="482883"/>
                  </a:cubicBezTo>
                  <a:lnTo>
                    <a:pt x="61645" y="482883"/>
                  </a:lnTo>
                  <a:cubicBezTo>
                    <a:pt x="45296" y="482883"/>
                    <a:pt x="29616" y="476388"/>
                    <a:pt x="18055" y="464828"/>
                  </a:cubicBezTo>
                  <a:cubicBezTo>
                    <a:pt x="6495" y="453267"/>
                    <a:pt x="0" y="437587"/>
                    <a:pt x="0" y="421238"/>
                  </a:cubicBezTo>
                  <a:lnTo>
                    <a:pt x="0" y="61645"/>
                  </a:lnTo>
                  <a:cubicBezTo>
                    <a:pt x="0" y="45296"/>
                    <a:pt x="6495" y="29616"/>
                    <a:pt x="18055" y="18055"/>
                  </a:cubicBezTo>
                  <a:cubicBezTo>
                    <a:pt x="29616" y="6495"/>
                    <a:pt x="45296" y="0"/>
                    <a:pt x="61645" y="0"/>
                  </a:cubicBezTo>
                  <a:close/>
                </a:path>
              </a:pathLst>
            </a:custGeom>
            <a:solidFill>
              <a:srgbClr val="8D080E">
                <a:alpha val="75686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9050"/>
              <a:ext cx="1686920" cy="4638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  <a:r>
                <a:rPr lang="en-US" sz="2799" spc="232">
                  <a:solidFill>
                    <a:srgbClr val="EFEFEF">
                      <a:alpha val="75686"/>
                    </a:srgbClr>
                  </a:solidFill>
                  <a:latin typeface="Impact"/>
                  <a:ea typeface="Impact"/>
                  <a:cs typeface="Impact"/>
                  <a:sym typeface="Impact"/>
                </a:rPr>
                <a:t>El seguimiento requiere indicadores claros, auditorías, observación de la calidad del aire, agua y suelo, y comparación de resultados a lo largo del tiempo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203382" y="1626156"/>
            <a:ext cx="13881235" cy="1945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b="true" sz="8770" spc="-482">
                <a:solidFill>
                  <a:srgbClr val="8D080E"/>
                </a:solidFill>
                <a:latin typeface="Aileron Bold"/>
                <a:ea typeface="Aileron Bold"/>
                <a:cs typeface="Aileron Bold"/>
                <a:sym typeface="Aileron Bold"/>
              </a:rPr>
              <a:t>2.6. Comp</a:t>
            </a:r>
            <a:r>
              <a:rPr lang="en-US" b="true" sz="8770" spc="-482">
                <a:solidFill>
                  <a:srgbClr val="8D080E"/>
                </a:solidFill>
                <a:latin typeface="Aileron Bold"/>
                <a:ea typeface="Aileron Bold"/>
                <a:cs typeface="Aileron Bold"/>
                <a:sym typeface="Aileron Bold"/>
              </a:rPr>
              <a:t>robar si las medidas funcionan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044440" y="5143500"/>
            <a:ext cx="6405024" cy="1833447"/>
            <a:chOff x="0" y="0"/>
            <a:chExt cx="1686920" cy="48288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86920" cy="482883"/>
            </a:xfrm>
            <a:custGeom>
              <a:avLst/>
              <a:gdLst/>
              <a:ahLst/>
              <a:cxnLst/>
              <a:rect r="r" b="b" t="t" l="l"/>
              <a:pathLst>
                <a:path h="482883" w="1686920">
                  <a:moveTo>
                    <a:pt x="61645" y="0"/>
                  </a:moveTo>
                  <a:lnTo>
                    <a:pt x="1625275" y="0"/>
                  </a:lnTo>
                  <a:cubicBezTo>
                    <a:pt x="1659320" y="0"/>
                    <a:pt x="1686920" y="27599"/>
                    <a:pt x="1686920" y="61645"/>
                  </a:cubicBezTo>
                  <a:lnTo>
                    <a:pt x="1686920" y="421238"/>
                  </a:lnTo>
                  <a:cubicBezTo>
                    <a:pt x="1686920" y="437587"/>
                    <a:pt x="1680425" y="453267"/>
                    <a:pt x="1668864" y="464828"/>
                  </a:cubicBezTo>
                  <a:cubicBezTo>
                    <a:pt x="1657304" y="476388"/>
                    <a:pt x="1641624" y="482883"/>
                    <a:pt x="1625275" y="482883"/>
                  </a:cubicBezTo>
                  <a:lnTo>
                    <a:pt x="61645" y="482883"/>
                  </a:lnTo>
                  <a:cubicBezTo>
                    <a:pt x="45296" y="482883"/>
                    <a:pt x="29616" y="476388"/>
                    <a:pt x="18055" y="464828"/>
                  </a:cubicBezTo>
                  <a:cubicBezTo>
                    <a:pt x="6495" y="453267"/>
                    <a:pt x="0" y="437587"/>
                    <a:pt x="0" y="421238"/>
                  </a:cubicBezTo>
                  <a:lnTo>
                    <a:pt x="0" y="61645"/>
                  </a:lnTo>
                  <a:cubicBezTo>
                    <a:pt x="0" y="45296"/>
                    <a:pt x="6495" y="29616"/>
                    <a:pt x="18055" y="18055"/>
                  </a:cubicBezTo>
                  <a:cubicBezTo>
                    <a:pt x="29616" y="6495"/>
                    <a:pt x="45296" y="0"/>
                    <a:pt x="61645" y="0"/>
                  </a:cubicBezTo>
                  <a:close/>
                </a:path>
              </a:pathLst>
            </a:custGeom>
            <a:solidFill>
              <a:srgbClr val="8D080E">
                <a:alpha val="75686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19050"/>
              <a:ext cx="1686920" cy="4638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  <a:r>
                <a:rPr lang="en-US" sz="2799" spc="232">
                  <a:solidFill>
                    <a:srgbClr val="EFEFEF">
                      <a:alpha val="75686"/>
                    </a:srgbClr>
                  </a:solidFill>
                  <a:latin typeface="Impact"/>
                  <a:ea typeface="Impact"/>
                  <a:cs typeface="Impact"/>
                  <a:sym typeface="Impact"/>
                </a:rPr>
                <a:t>Las actividades trasladan estas ideas al entorno próximo: comparar ciudades y sus soluciones de movilidad, analizar consumo energético, estudiar residuos tecnológicos,...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D08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648028" cy="10305940"/>
            <a:chOff x="0" y="0"/>
            <a:chExt cx="170674" cy="27143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0674" cy="2714322"/>
            </a:xfrm>
            <a:custGeom>
              <a:avLst/>
              <a:gdLst/>
              <a:ahLst/>
              <a:cxnLst/>
              <a:rect r="r" b="b" t="t" l="l"/>
              <a:pathLst>
                <a:path h="2714322" w="170674">
                  <a:moveTo>
                    <a:pt x="0" y="0"/>
                  </a:moveTo>
                  <a:lnTo>
                    <a:pt x="170674" y="0"/>
                  </a:lnTo>
                  <a:lnTo>
                    <a:pt x="170674" y="2714322"/>
                  </a:lnTo>
                  <a:lnTo>
                    <a:pt x="0" y="2714322"/>
                  </a:lnTo>
                  <a:close/>
                </a:path>
              </a:pathLst>
            </a:custGeom>
            <a:solidFill>
              <a:srgbClr val="17171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47625"/>
              <a:ext cx="170674" cy="26666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2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-804645" y="2729025"/>
            <a:ext cx="19897290" cy="2558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27"/>
              </a:lnSpc>
            </a:pPr>
            <a:r>
              <a:rPr lang="en-US" b="true" sz="21984" spc="-1209">
                <a:solidFill>
                  <a:srgbClr val="E4E2DD"/>
                </a:solidFill>
                <a:latin typeface="Aileron Bold"/>
                <a:ea typeface="Aileron Bold"/>
                <a:cs typeface="Aileron Bold"/>
                <a:sym typeface="Aileron Bold"/>
              </a:rPr>
              <a:t>¡GRACIAS!</a:t>
            </a:r>
          </a:p>
        </p:txBody>
      </p:sp>
      <p:grpSp>
        <p:nvGrpSpPr>
          <p:cNvPr name="Group 6" id="6"/>
          <p:cNvGrpSpPr/>
          <p:nvPr/>
        </p:nvGrpSpPr>
        <p:grpSpPr>
          <a:xfrm rot="-5400000">
            <a:off x="9118214" y="-8572577"/>
            <a:ext cx="648028" cy="17793181"/>
            <a:chOff x="0" y="0"/>
            <a:chExt cx="170674" cy="468627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0674" cy="4686270"/>
            </a:xfrm>
            <a:custGeom>
              <a:avLst/>
              <a:gdLst/>
              <a:ahLst/>
              <a:cxnLst/>
              <a:rect r="r" b="b" t="t" l="l"/>
              <a:pathLst>
                <a:path h="4686270" w="170674">
                  <a:moveTo>
                    <a:pt x="0" y="0"/>
                  </a:moveTo>
                  <a:lnTo>
                    <a:pt x="170674" y="0"/>
                  </a:lnTo>
                  <a:lnTo>
                    <a:pt x="170674" y="4686270"/>
                  </a:lnTo>
                  <a:lnTo>
                    <a:pt x="0" y="4686270"/>
                  </a:lnTo>
                  <a:close/>
                </a:path>
              </a:pathLst>
            </a:custGeom>
            <a:solidFill>
              <a:srgbClr val="171717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47625"/>
              <a:ext cx="170674" cy="4638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2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-5400000">
            <a:off x="9220605" y="1085335"/>
            <a:ext cx="648028" cy="17793181"/>
            <a:chOff x="0" y="0"/>
            <a:chExt cx="170674" cy="468627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70674" cy="4686270"/>
            </a:xfrm>
            <a:custGeom>
              <a:avLst/>
              <a:gdLst/>
              <a:ahLst/>
              <a:cxnLst/>
              <a:rect r="r" b="b" t="t" l="l"/>
              <a:pathLst>
                <a:path h="4686270" w="170674">
                  <a:moveTo>
                    <a:pt x="0" y="0"/>
                  </a:moveTo>
                  <a:lnTo>
                    <a:pt x="170674" y="0"/>
                  </a:lnTo>
                  <a:lnTo>
                    <a:pt x="170674" y="4686270"/>
                  </a:lnTo>
                  <a:lnTo>
                    <a:pt x="0" y="4686270"/>
                  </a:lnTo>
                  <a:close/>
                </a:path>
              </a:pathLst>
            </a:custGeom>
            <a:solidFill>
              <a:srgbClr val="171717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47625"/>
              <a:ext cx="170674" cy="4638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20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4851730" y="4689225"/>
            <a:ext cx="8584540" cy="5711202"/>
          </a:xfrm>
          <a:custGeom>
            <a:avLst/>
            <a:gdLst/>
            <a:ahLst/>
            <a:cxnLst/>
            <a:rect r="r" b="b" t="t" l="l"/>
            <a:pathLst>
              <a:path h="5711202" w="8584540">
                <a:moveTo>
                  <a:pt x="0" y="0"/>
                </a:moveTo>
                <a:lnTo>
                  <a:pt x="8584540" y="0"/>
                </a:lnTo>
                <a:lnTo>
                  <a:pt x="8584540" y="5711202"/>
                </a:lnTo>
                <a:lnTo>
                  <a:pt x="0" y="57112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7655845" y="134467"/>
            <a:ext cx="648028" cy="10305940"/>
            <a:chOff x="0" y="0"/>
            <a:chExt cx="170674" cy="271432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70674" cy="2714322"/>
            </a:xfrm>
            <a:custGeom>
              <a:avLst/>
              <a:gdLst/>
              <a:ahLst/>
              <a:cxnLst/>
              <a:rect r="r" b="b" t="t" l="l"/>
              <a:pathLst>
                <a:path h="2714322" w="170674">
                  <a:moveTo>
                    <a:pt x="0" y="0"/>
                  </a:moveTo>
                  <a:lnTo>
                    <a:pt x="170674" y="0"/>
                  </a:lnTo>
                  <a:lnTo>
                    <a:pt x="170674" y="2714322"/>
                  </a:lnTo>
                  <a:lnTo>
                    <a:pt x="0" y="2714322"/>
                  </a:lnTo>
                  <a:close/>
                </a:path>
              </a:pathLst>
            </a:custGeom>
            <a:solidFill>
              <a:srgbClr val="171717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47625"/>
              <a:ext cx="170674" cy="26666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20"/>
                </a:lnSpc>
              </a:pPr>
            </a:p>
          </p:txBody>
        </p:sp>
      </p:grp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DAHWGVDAizg</dc:identifier>
  <dcterms:modified xsi:type="dcterms:W3CDTF">2011-08-01T06:04:30Z</dcterms:modified>
  <cp:revision>1</cp:revision>
  <dc:title> Entrega de la presentación (1ª Ev.)</dc:title>
</cp:coreProperties>
</file>